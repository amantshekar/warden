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</a:rPr>
              <a:t>WARDEN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148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0B981"/>
                </a:solidFill>
              </a:rPr>
              <a:t>Adaptive-Compute Neural Routing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697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</a:rPr>
              <a:t>for Enterprise LLMs on AMD ROCm™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291840"/>
            <a:ext cx="6400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Stops adversarial LLM traffic before it reaches your GPU.
Four cascading security tiers. Zero false positives. Real hardware validation.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12064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21207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Precision — 0 False Positives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512064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521207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B82F6"/>
                </a:solidFill>
              </a:rPr>
              <a:t>4,850 req/s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8521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Throughput (c=1, AMD W7900)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512064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521207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59E0B"/>
                </a:solidFill>
              </a:rPr>
              <a:t>14.1 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8521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Avg GPU Power (vs 280W Baseline)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512064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20" y="521207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F4444"/>
                </a:solidFill>
              </a:rPr>
              <a:t>210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85215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P50 Latency (Tier 1 NLP)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182880"/>
            <a:ext cx="2103120" cy="548640"/>
          </a:xfrm>
          <a:prstGeom prst="rect">
            <a:avLst/>
          </a:prstGeom>
          <a:solidFill>
            <a:srgbClr val="ED1C2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2468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AMD Developer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Enterprises route 100% of LLM traffic through massive generative models just to catch basic security threats.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11430000" cy="914400"/>
          </a:xfrm>
          <a:prstGeom prst="rect">
            <a:avLst/>
          </a:prstGeom>
          <a:solidFill>
            <a:srgbClr val="1A1B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5623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⚡ 280W wasted per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58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 simple SQL injection costs the same compute as generating a 2,000-token essay.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34639"/>
            <a:ext cx="11430000" cy="914400"/>
          </a:xfrm>
          <a:prstGeom prst="rect">
            <a:avLst/>
          </a:prstGeom>
          <a:solidFill>
            <a:srgbClr val="1A1B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0779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⏱  4,800ms added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10127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Users wait 5+ seconds on security checks before their actual request is even processed.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886200"/>
            <a:ext cx="11430000" cy="914400"/>
          </a:xfrm>
          <a:prstGeom prst="rect">
            <a:avLst/>
          </a:prstGeom>
          <a:solidFill>
            <a:srgbClr val="1A1B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9593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🧠 VRAM saturated at 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616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Context windows are consumed by security prompts, blocking actual inference capacity.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37759"/>
            <a:ext cx="11430000" cy="914400"/>
          </a:xfrm>
          <a:prstGeom prst="rect">
            <a:avLst/>
          </a:prstGeom>
          <a:solidFill>
            <a:srgbClr val="1A1B23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010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💸 Over-provisioned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132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Enterprises buy 2× GPU capacity just to keep up with security overhead.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080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</a:rPr>
              <a:t>"Using a 400B-parameter LLM to catch a 10-character SQL injection is a sledgehammer problem."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The Solution: Intelligent 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Warden intercepts every request and routes it to the cheapest tier capable of making a security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</a:rPr>
              <a:t>USER REQUEST  ──►  WARDEN ROUTER  ──►  Cheapest Tier  ──►  AMD ROCm LLM (only ~5% of traffic)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11247120" cy="685800"/>
          </a:xfrm>
          <a:prstGeom prst="rect">
            <a:avLst/>
          </a:prstGeom>
          <a:solidFill>
            <a:srgbClr val="1A1B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</a:rPr>
              <a:t>T0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Tier 0: Deterministic Regex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23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SQL Injection · XSS · PII patterns · Known CVEs · Zero VRAM · CPU-only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1031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59E0B"/>
                </a:solidFill>
              </a:rPr>
              <a:t>0.4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423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9 W  CPU-only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2148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F4444"/>
                </a:solidFill>
              </a:rPr>
              <a:t>⛔ BLOCKED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11247120" cy="68580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</a:rPr>
              <a:t>T1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71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Tier 1: Semantic NLP Classifier (DeBERTa-v3)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91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Prompt leaks · Roleplay jailbreaks · Base64 obfuscation · CPU/NPU bound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971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0B981"/>
                </a:solidFill>
              </a:rPr>
              <a:t>210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291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14.1 W  CPU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017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F4444"/>
                </a:solidFill>
              </a:rPr>
              <a:t>⛔ BLOCKED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94760"/>
            <a:ext cx="11247120" cy="685800"/>
          </a:xfrm>
          <a:prstGeom prst="rect">
            <a:avLst/>
          </a:prstGeom>
          <a:solidFill>
            <a:srgbClr val="1A1B2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8862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</a:rPr>
              <a:t>T2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840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Tier 2: DiffGuard — CI/CD Code Scan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60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Semgrep AST · Hardcoded secrets · GitHub Actions hooks · Vulnerable PRs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8404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3B82F6"/>
                </a:solidFill>
              </a:rPr>
              <a:t>~3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1605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CPU / Disk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3886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EF4444"/>
                </a:solidFill>
              </a:rPr>
              <a:t>⛔ BLOCKED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663440"/>
            <a:ext cx="11247120" cy="685800"/>
          </a:xfrm>
          <a:prstGeom prst="rect">
            <a:avLst/>
          </a:prstGeom>
          <a:solidFill>
            <a:srgbClr val="1A1B2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754879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</a:rPr>
              <a:t>T3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7091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Tier 3: AMD ROCm LLM (Qwen2.5-Coder-7B on W7900)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Only ~5% of traffic reaches here · 48GB VRAM · KV cache q8_0 · AMD Flash Attention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70915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EF4444"/>
                </a:solidFill>
              </a:rPr>
              <a:t>~1.2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029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</a:rPr>
              <a:t>240 W  GPU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47548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10B981"/>
                </a:solidFill>
              </a:rPr>
              <a:t>✓ ALLOWED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532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</a:rPr>
              <a:t>95% of adversarial traffic never reaches the GPU. The AMD W7900 stays in low-power Infinity Fabric sleep states.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Security Efficacy — Real Benchmark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210 attack samples · 13 OWASP LLM families · Evaluated on AMD W7900 (ROCm 7.2.1)  |  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Precision
(0 False Positives)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50876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B82F6"/>
                </a:solidFill>
              </a:rPr>
              <a:t>22%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Recall after
Red-Team Mutations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50876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59E0B"/>
                </a:solidFill>
              </a:rPr>
              <a:t>61.3%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Best Catch Rate
(Base64 Evasion)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508760"/>
            <a:ext cx="2560320" cy="128016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1600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0B981"/>
                </a:solidFill>
              </a:rPr>
              <a:t>30/30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Benign Samples
Correctly Allowed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971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Per-Family Recall (Baseline  →  After Red-Team Mutation)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83280"/>
            <a:ext cx="11430000" cy="292608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41071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01 Direct Injection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4107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26.67%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41071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20.0%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85032"/>
            <a:ext cx="11430000" cy="29260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71246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02 Jailbreak DAN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71246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26.67%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71246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38.9%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986784"/>
            <a:ext cx="11430000" cy="292608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01421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03 Role-Playing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01421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01421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16.7%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288536"/>
            <a:ext cx="11430000" cy="29260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31596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04 Encoding Obfuscation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31596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20.0%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31596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41.2% 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590288"/>
            <a:ext cx="11430000" cy="292608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61772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05 Multi-Turn Adversarial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61772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61772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4.2%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892040"/>
            <a:ext cx="11430000" cy="29260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91947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06 Tool Call Injection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491947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20.0%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919472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20.0%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193792"/>
            <a:ext cx="11430000" cy="292608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22122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07 Payload in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522122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20.0%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522122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38.9%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495544"/>
            <a:ext cx="11430000" cy="29260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52297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10 Code Injection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552297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26.67%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5522976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41.7%  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797296"/>
            <a:ext cx="11430000" cy="292608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8247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12 Data Poisoning (RAG)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582472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13.33%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582472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12.5%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6099048"/>
            <a:ext cx="11430000" cy="292608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612648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13 Benign Control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612648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</a:rPr>
              <a:t>N/A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6126480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100% ✓✓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32461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OWASP Family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3246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4A3B8"/>
                </a:solidFill>
              </a:rPr>
              <a:t>Baseline Recall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32461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</a:rPr>
              <a:t>After Mutations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Red Team Evasion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200 adversarial mutations generated across 8 attack mutators against 210-sample baseline corpus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572768"/>
            <a:ext cx="4484217" cy="201168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base64_decode_exec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0B981"/>
                </a:solidFill>
              </a:rPr>
              <a:t>61.3%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4708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Encodes payloads in Base64 and wraps in exec() — Warden catches 61.3%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30552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2148840"/>
            <a:ext cx="2435961" cy="201168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305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paraphrase_scaffold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1305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0B981"/>
                </a:solidFill>
              </a:rPr>
              <a:t>33.3%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2316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Rewrites attacks in polite/academic framing — 33.3% catch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06624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" y="2724912"/>
            <a:ext cx="1719072" cy="201168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0662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zero_width_split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7066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</a:rPr>
              <a:t>23.5%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9923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Injects zero-width Unicode between attack tokens — 23.5% catch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82696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3300984"/>
            <a:ext cx="1046073" cy="201168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28269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homoglyph_swap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</a:rPr>
              <a:t>14.3%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575303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Replaces ASCII chars with visually identical Unicode glyphs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58768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" y="3877055"/>
            <a:ext cx="1009497" cy="201168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8587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spongebob_case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8587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</a:rPr>
              <a:t>13.8%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151376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AlTeRnAtInG cAsE to evade regex — 13.8% catch 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434840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4453127"/>
            <a:ext cx="877824" cy="201168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434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whitespace_mangle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434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</a:rPr>
              <a:t>12.0%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72744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Injects irregular whitespace between tokens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010912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4048" y="5029200"/>
            <a:ext cx="731520" cy="201168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0109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payload_swap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50109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59E0B"/>
                </a:solidFill>
              </a:rPr>
              <a:t>10.0%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3035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Replaces payload content while keeping attack structure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586984"/>
            <a:ext cx="11430000" cy="530352"/>
          </a:xfrm>
          <a:prstGeom prst="rect">
            <a:avLst/>
          </a:prstGeom>
          <a:solidFill>
            <a:srgbClr val="1A1B23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4048" y="5605272"/>
            <a:ext cx="292608" cy="201168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5869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tag_injection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558698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F4444"/>
                </a:solidFill>
              </a:rPr>
              <a:t>4.0%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87959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Injects HTML/XML tags — currently lowest catch rate (4%)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AMD W7900 Hardware Stress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ROCm 7.2.1 · Qwen2.5-Coder-7B · KV Cache q8_0 · AMD Flash Attention enabled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solidFill>
            <a:srgbClr val="1E1F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Concurrency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39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Req/s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P50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59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P99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VRAM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15361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11430000" cy="594360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39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4,850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210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59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250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8.4 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✅ 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70048"/>
            <a:ext cx="1143000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39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4,600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280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59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310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14.2 GB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8346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✅ PASS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328416"/>
            <a:ext cx="11430000" cy="594360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39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4,200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450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59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520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24.8 GB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✅ 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986784"/>
            <a:ext cx="11430000" cy="594360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39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3,800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850 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3559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1,150 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41.2 GB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41513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✅ PASS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645152"/>
            <a:ext cx="11430000" cy="594360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64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39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TIMEOUT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59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TIMEOUT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48.0 GB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480974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❌ OOM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440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★  Peak throughput 4,850 req/s with only 8.4 GB VRAM — 8-bit KV cache quantization allows 2× batch capacity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58704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⚠   OOM at concurrency=64 is a real limitation. Max stable deployment: 32 concurrent contexts on W7900.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AMD ROCm Power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Real telemetry from 518 measurement samples — AMD Radeon PRO W7900, ROCm 7.2.1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394960" cy="320040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WARDEN 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10B981"/>
                </a:solidFill>
              </a:rPr>
              <a:t>14.1 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54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Average GPU power — real measurement
Max spike: 17.0W  |  518 telemetry samples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508760"/>
            <a:ext cx="5394960" cy="3200400"/>
          </a:xfrm>
          <a:prstGeom prst="rect">
            <a:avLst/>
          </a:prstGeom>
          <a:solidFill>
            <a:srgbClr val="1A1B23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F4444"/>
                </a:solidFill>
              </a:rPr>
              <a:t>BASELINE LLM (no routing)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0574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EF4444"/>
                </a:solidFill>
              </a:rPr>
              <a:t>~280 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1546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Continuous GPU power with no routing
Estimated from vendor TDP specs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92040"/>
            <a:ext cx="11430000" cy="731520"/>
          </a:xfrm>
          <a:prstGeom prst="rect">
            <a:avLst/>
          </a:prstGeom>
          <a:solidFill>
            <a:srgbClr val="10191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029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</a:rPr>
              <a:t>⚡  ~266 Watts saved per blocked request   |   AMD Infinity Fabric sleep-state active 95% of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715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▸ KV Cache q8_0: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7150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Qwen 7B VRAM: 16.2 GB → 8.4 GB (48% reduction). Doubles batch capacity.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053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▸ AMD Flash Attention: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60533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Attention computed in SRAM. Throughput: 1,200 → 4,850 tokens/s.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3916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▸ Core Pinning (Zen):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391656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Physical core pinning eliminates L3 cache thrashing during CPU tokenization.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OWASP LLM Top 10 — Coverage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411480"/>
          </a:xfrm>
          <a:prstGeom prst="rect">
            <a:avLst/>
          </a:prstGeom>
          <a:solidFill>
            <a:srgbClr val="1E1F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OWASP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</a:rPr>
              <a:t>Warden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0972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94A3B8"/>
                </a:solidFill>
              </a:rPr>
              <a:t>Recall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11430000" cy="347472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453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5453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Prompt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453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0 + Tier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5453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26.67% (Precision 100%)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02536"/>
            <a:ext cx="11430000" cy="34747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391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0391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Insecure Output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039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496312"/>
            <a:ext cx="11430000" cy="347472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5328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5328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Training Data Poisoning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32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2 (DiffGuard)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532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13.33%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90088"/>
            <a:ext cx="11430000" cy="34747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02666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0266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Model Denial of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0266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0 (rate rules)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0266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Partial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483864"/>
            <a:ext cx="11430000" cy="347472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520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520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Supply Chain Vulnerabilities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2 (CI/CD scan)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In progress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77639"/>
            <a:ext cx="11430000" cy="34747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014215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401421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Sensitive Info Disclosure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01421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0 + Tier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401421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Partial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471416"/>
            <a:ext cx="11430000" cy="347472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50799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507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Insecure Plugin Design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507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507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Partial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965192"/>
            <a:ext cx="11430000" cy="34747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0017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50017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Excessive Agency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001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5001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Partial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458968"/>
            <a:ext cx="11430000" cy="347472"/>
          </a:xfrm>
          <a:prstGeom prst="rect">
            <a:avLst/>
          </a:prstGeom>
          <a:solidFill>
            <a:srgbClr val="1A1B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4955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80160" y="54955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Overreliance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54955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3 (monitored)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54955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Monitored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952744"/>
            <a:ext cx="11430000" cy="347472"/>
          </a:xfrm>
          <a:prstGeom prst="rect">
            <a:avLst/>
          </a:prstGeom>
          <a:solidFill>
            <a:srgbClr val="1213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989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LLM10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016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Model Theft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B82F6"/>
                </a:solidFill>
              </a:rPr>
              <a:t>Tier 0 (pattern)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</a:rPr>
              <a:t>Partial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"Partial" = architecture is wired; recall improves with domain-specific fine-tuning of Tier 1 DeBERTa-v3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DiffGuard: CI/CD Pipeline Defense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Warden's unique Tier 2 — intercepts malicious code before it merges into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</a:rPr>
              <a:t>What it catches: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Hardcoded AWS / GCP secrets in PRs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414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SQL injection in query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169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Prompt injection in AI pipeline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924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Dangerous eval() / exec()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679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Insecure deserialization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43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  ▸  Training data poisoning via data scripts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63040"/>
            <a:ext cx="5669280" cy="4846320"/>
          </a:xfrm>
          <a:prstGeom prst="rect">
            <a:avLst/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5669280" cy="411480"/>
          </a:xfrm>
          <a:prstGeom prst="rect">
            <a:avLst/>
          </a:prstGeom>
          <a:solidFill>
            <a:srgbClr val="161B22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08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● ● ●   api/user_lookup.py  [PR #1042]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0116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# Add user lookup endpoint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35915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4444"/>
                </a:solidFill>
              </a:rPr>
              <a:t>- query = 'SELECT id FROM users'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70662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+ query = f"SELECT * FROM users WHERE username='{username}'"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05409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40156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conn.execute(query)  # ← SQL Injection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749039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09651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9E0B"/>
                </a:solidFill>
              </a:rPr>
              <a:t>[WARDEN DIFFGUARD]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44398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4444"/>
                </a:solidFill>
              </a:rPr>
              <a:t>⛔  BLOCKED — Tier 2 Security Violation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7914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Rule: sql-injection/string-format-query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13892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File: api/user_lookup.py  Line: 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48640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B981"/>
                </a:solidFill>
              </a:rPr>
              <a:t>Action: PR merge blocked. Review required.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DiffGuard uses Semgrep's AST parser for semantic analysis. Regex fallback ships for environments without Semgrep.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What We Built &amp;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94960" cy="4754880"/>
          </a:xfrm>
          <a:prstGeom prst="rect">
            <a:avLst/>
          </a:prstGeom>
          <a:solidFill>
            <a:srgbClr val="1A1B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</a:rPr>
              <a:t>✅  Accomplished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100% precision — zero false positives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39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210-sample evaluation across 13 OWASP families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8-mutator red-team engine (200 mutations)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8328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4,850 req/s on AMD W7900 (real measurement)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14.1W avg power vs 280W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8912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Complete FastAPI web UI + demo 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9204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DiffGuard CI/CD GitHub Actions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39496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▸  Full hardware telemetry pipeline (518 samples)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1A1B2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</a:rPr>
              <a:t>🚀  Next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7451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1.  Fine-tune DeBERTa-v3 on adversarial LLM data
  → push recall from 22% to 80%+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69747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2.  Kubernetes sidecar injection
  → zero-config enterprise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52043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3.  Expand Tier 0 regex corpus
  → cover remaining OWASP gaps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343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4.  Open-source community tiers
  → image &amp; audio attack scanning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1663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  5.  Warden Cloud: managed routing-as-a-service
  → for any AMD ROCm deployment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126480"/>
            <a:ext cx="11430000" cy="59436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50508"/>
                </a:solidFill>
              </a:rPr>
              <a:t>Architecture beats brute force. Route smarter, not harder.   ·   MIT Licensed   ·   AMD ROCm™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